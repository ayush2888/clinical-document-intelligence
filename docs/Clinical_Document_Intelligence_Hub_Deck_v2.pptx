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71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Problem Understanding and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743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2DFDB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388620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54864" cy="2377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280160"/>
            <a:ext cx="35661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3D62"/>
                </a:solidFill>
              </a:defRPr>
            </a:pPr>
            <a:r>
              <a:t>The Problem</a:t>
            </a:r>
          </a:p>
          <a:p>
            <a:pPr>
              <a:spcBef>
                <a:spcPts val="600"/>
              </a:spcBef>
              <a:defRPr sz="1100">
                <a:solidFill>
                  <a:srgbClr val="546E7A"/>
                </a:solidFill>
              </a:defRPr>
            </a:pPr>
            <a:r>
              <a:t>Clinical and administrative staff spend hours manually reading intake forms, discharge summaries, lab reports, and physician notes to extract key information.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143000"/>
            <a:ext cx="406908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0" y="1143000"/>
            <a:ext cx="54864" cy="2377440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1280160"/>
            <a:ext cx="37490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3D62"/>
                </a:solidFill>
              </a:defRPr>
            </a:pPr>
            <a:r>
              <a:t>Why It Matters</a:t>
            </a:r>
          </a:p>
          <a:p>
            <a:pPr>
              <a:spcBef>
                <a:spcPts val="600"/>
              </a:spcBef>
              <a:defRPr sz="1100">
                <a:solidFill>
                  <a:srgbClr val="546E7A"/>
                </a:solidFill>
              </a:defRPr>
            </a:pPr>
            <a:r>
              <a:t>Manual review is slow, inconsistent, and error-prone. Teams need structured, decision-ready outputs — not more document reading.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749039"/>
            <a:ext cx="8138160" cy="2423160"/>
          </a:xfrm>
          <a:prstGeom prst="round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931920"/>
            <a:ext cx="7680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2DFDB"/>
                </a:solidFill>
              </a:defRPr>
            </a:pPr>
            <a:r>
              <a:t>Our Objective</a:t>
            </a:r>
          </a:p>
          <a:p>
            <a:pPr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  →  Accept clinical documents — text, PDF, and image</a:t>
            </a:r>
          </a:p>
          <a:p>
            <a:pPr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  →  Extract structured entities with evidence and confidence scores</a:t>
            </a:r>
          </a:p>
          <a:p>
            <a:pPr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  →  Generate patient summaries, risk flags, and next-step recommendations</a:t>
            </a:r>
          </a:p>
          <a:p>
            <a:pPr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  →  Merge multiple documents for the same patient into one unified 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446520"/>
            <a:ext cx="8229600" cy="18288"/>
          </a:xfrm>
          <a:prstGeom prst="rect">
            <a:avLst/>
          </a:prstGeom>
          <a:solidFill>
            <a:srgbClr val="B2D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Solution Architecture and Design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743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2DFDB"/>
                </a:solidFill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34440"/>
            <a:ext cx="1298448" cy="12344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B2DFDB"/>
                </a:solidFill>
              </a:defRPr>
            </a:pPr>
            <a:r>
              <a:t>1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Upload</a:t>
            </a:r>
          </a:p>
          <a:p>
            <a:pPr algn="ctr">
              <a:defRPr sz="800">
                <a:solidFill>
                  <a:srgbClr val="B2DFDB"/>
                </a:solidFill>
              </a:defRPr>
            </a:pPr>
            <a:r>
              <a:t>TXT · PDF · 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09928" y="1645920"/>
            <a:ext cx="118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9688"/>
                </a:solidFill>
              </a:defRPr>
            </a:pPr>
            <a: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83080" y="1234440"/>
            <a:ext cx="1298448" cy="1234440"/>
          </a:xfrm>
          <a:prstGeom prst="round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B2DFDB"/>
                </a:solidFill>
              </a:defRPr>
            </a:pPr>
            <a:r>
              <a:t>2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Ingest</a:t>
            </a:r>
          </a:p>
          <a:p>
            <a:pPr algn="ctr">
              <a:defRPr sz="800">
                <a:solidFill>
                  <a:srgbClr val="B2DFDB"/>
                </a:solidFill>
              </a:defRPr>
            </a:pPr>
            <a:r>
              <a:t>PyMuPDF · Tesseract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81528" y="1645920"/>
            <a:ext cx="118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9688"/>
                </a:solidFill>
              </a:defRPr>
            </a:pPr>
            <a: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1234440"/>
            <a:ext cx="1298448" cy="12344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B2DFDB"/>
                </a:solidFill>
              </a:defRPr>
            </a:pPr>
            <a:r>
              <a:t>3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Extract</a:t>
            </a:r>
          </a:p>
          <a:p>
            <a:pPr algn="ctr">
              <a:defRPr sz="800">
                <a:solidFill>
                  <a:srgbClr val="B2DFDB"/>
                </a:solidFill>
              </a:defRPr>
            </a:pPr>
            <a:r>
              <a:t>Groq LLM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3128" y="1645920"/>
            <a:ext cx="118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9688"/>
                </a:solidFill>
              </a:defRPr>
            </a:pPr>
            <a: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234440"/>
            <a:ext cx="1298448" cy="1234440"/>
          </a:xfrm>
          <a:prstGeom prst="round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B2DFDB"/>
                </a:solidFill>
              </a:defRPr>
            </a:pPr>
            <a:r>
              <a:t>4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Enrich</a:t>
            </a:r>
          </a:p>
          <a:p>
            <a:pPr algn="ctr">
              <a:defRPr sz="800">
                <a:solidFill>
                  <a:srgbClr val="B2DFDB"/>
                </a:solidFill>
              </a:defRPr>
            </a:pPr>
            <a:r>
              <a:t>Confidence · Normalize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24728" y="1645920"/>
            <a:ext cx="118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9688"/>
                </a:solidFill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80" y="1234440"/>
            <a:ext cx="1298448" cy="12344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B2DFDB"/>
                </a:solidFill>
              </a:defRPr>
            </a:pPr>
            <a:r>
              <a:t>5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Assess</a:t>
            </a:r>
          </a:p>
          <a:p>
            <a:pPr algn="ctr">
              <a:defRPr sz="800">
                <a:solidFill>
                  <a:srgbClr val="B2DFDB"/>
                </a:solidFill>
              </a:defRPr>
            </a:pPr>
            <a:r>
              <a:t>Rules · Knowledge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96328" y="1645920"/>
            <a:ext cx="118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9688"/>
                </a:solidFill>
              </a:defRPr>
            </a:pPr>
            <a: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9480" y="1234440"/>
            <a:ext cx="1298448" cy="1234440"/>
          </a:xfrm>
          <a:prstGeom prst="round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B2DFDB"/>
                </a:solidFill>
              </a:defRPr>
            </a:pPr>
            <a:r>
              <a:t>6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Output</a:t>
            </a:r>
          </a:p>
          <a:p>
            <a:pPr algn="ctr">
              <a:defRPr sz="800">
                <a:solidFill>
                  <a:srgbClr val="B2DFDB"/>
                </a:solidFill>
              </a:defRPr>
            </a:pPr>
            <a:r>
              <a:t>Summary · Dashboard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697480"/>
            <a:ext cx="388620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2697480"/>
            <a:ext cx="54864" cy="14173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2834640"/>
            <a:ext cx="3566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3D62"/>
                </a:solidFill>
              </a:defRPr>
            </a:pPr>
            <a:r>
              <a:t>Multi-Document Merge</a:t>
            </a:r>
          </a:p>
          <a:p>
            <a:pPr>
              <a:spcBef>
                <a:spcPts val="600"/>
              </a:spcBef>
              <a:defRPr sz="1100">
                <a:solidFill>
                  <a:srgbClr val="546E7A"/>
                </a:solidFill>
              </a:defRPr>
            </a:pPr>
            <a:r>
              <a:t>Upload notes, discharge summaries, and lab reports for one patient. System deduplicates findings, tags provenance, and blocks merge on identity conflicts.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2697480"/>
            <a:ext cx="40690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0" y="2697480"/>
            <a:ext cx="54864" cy="1417320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54880" y="2834640"/>
            <a:ext cx="3749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3D62"/>
                </a:solidFill>
              </a:defRPr>
            </a:pPr>
            <a:r>
              <a:t>Evaluation Layer</a:t>
            </a:r>
          </a:p>
          <a:p>
            <a:pPr>
              <a:spcBef>
                <a:spcPts val="600"/>
              </a:spcBef>
              <a:defRPr sz="1100">
                <a:solidFill>
                  <a:srgbClr val="546E7A"/>
                </a:solidFill>
              </a:defRPr>
            </a:pPr>
            <a:r>
              <a:t>Automated scoring against ground_truth.json and the public Superinsight benchmark — all metrics from live API calls.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343400"/>
            <a:ext cx="8138160" cy="777240"/>
          </a:xfrm>
          <a:prstGeom prst="roundRect">
            <a:avLst/>
          </a:prstGeom>
          <a:solidFill>
            <a:srgbClr val="F0F4F8"/>
          </a:solidFill>
          <a:ln>
            <a:solidFill>
              <a:srgbClr val="B2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45262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A3D62"/>
                </a:solidFill>
              </a:defRPr>
            </a:pPr>
            <a:r>
              <a:t>Tech Stack:  Python  ·  Groq LLM  ·  Pydantic  ·  Streamlit  ·  PyMuPDF  ·  Tesseract OCR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0" y="5349240"/>
            <a:ext cx="4572000" cy="6858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Streamlit Dashboard  →  Patient Summary  ·  Workflow Flags  ·  JSON Export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446520"/>
            <a:ext cx="8229600" cy="18288"/>
          </a:xfrm>
          <a:prstGeom prst="rect">
            <a:avLst/>
          </a:prstGeom>
          <a:solidFill>
            <a:srgbClr val="B2D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Implementation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743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2DFDB"/>
                </a:solidFill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388620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54864" cy="14173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280160"/>
            <a:ext cx="3566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3D62"/>
                </a:solidFill>
              </a:defRPr>
            </a:pPr>
            <a:r>
              <a:t>7-Step Pipeline</a:t>
            </a:r>
          </a:p>
          <a:p>
            <a:pPr>
              <a:spcBef>
                <a:spcPts val="600"/>
              </a:spcBef>
              <a:defRPr sz="1100">
                <a:solidFill>
                  <a:srgbClr val="546E7A"/>
                </a:solidFill>
              </a:defRPr>
            </a:pPr>
            <a:r>
              <a:t>Ingest → LLM extract → confidence score → terminology normalize → knowledge retrieval → rule assessment → summary generation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143000"/>
            <a:ext cx="40690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0" y="1143000"/>
            <a:ext cx="54864" cy="141732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1280160"/>
            <a:ext cx="3749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3D62"/>
                </a:solidFill>
              </a:defRPr>
            </a:pPr>
            <a:r>
              <a:t>Schema Validation</a:t>
            </a:r>
          </a:p>
          <a:p>
            <a:pPr>
              <a:spcBef>
                <a:spcPts val="600"/>
              </a:spcBef>
              <a:defRPr sz="1100">
                <a:solidFill>
                  <a:srgbClr val="546E7A"/>
                </a:solidFill>
              </a:defRPr>
            </a:pPr>
            <a:r>
              <a:t>Pydantic models enforce structure; every field carries an evidence quote from the source document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788920"/>
            <a:ext cx="388620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2788920"/>
            <a:ext cx="54864" cy="14173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2926079"/>
            <a:ext cx="3566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3D62"/>
                </a:solidFill>
              </a:defRPr>
            </a:pPr>
            <a:r>
              <a:t>Workflow Flags</a:t>
            </a:r>
          </a:p>
          <a:p>
            <a:pPr>
              <a:spcBef>
                <a:spcPts val="600"/>
              </a:spcBef>
              <a:defRPr sz="1100">
                <a:solidFill>
                  <a:srgbClr val="546E7A"/>
                </a:solidFill>
              </a:defRPr>
            </a:pPr>
            <a:r>
              <a:t>Transparent clinical rules — e.g. HbA1c &gt; 9%, BP &gt; 140/90 — surfaced as actionable alerts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2788920"/>
            <a:ext cx="40690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0" y="2788920"/>
            <a:ext cx="54864" cy="141732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0" y="2926079"/>
            <a:ext cx="3749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3D62"/>
                </a:solidFill>
              </a:defRPr>
            </a:pPr>
            <a:r>
              <a:t>Multi-Doc Merge</a:t>
            </a:r>
          </a:p>
          <a:p>
            <a:pPr>
              <a:spcBef>
                <a:spcPts val="600"/>
              </a:spcBef>
              <a:defRPr sz="1100">
                <a:solidFill>
                  <a:srgbClr val="546E7A"/>
                </a:solidFill>
              </a:defRPr>
            </a:pPr>
            <a:r>
              <a:t>Combine physician notes, discharge PDFs, and lab images; dedupe by canonical name with source provenance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434840"/>
            <a:ext cx="388620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4434840"/>
            <a:ext cx="54864" cy="14173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4572000"/>
            <a:ext cx="3566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3D62"/>
                </a:solidFill>
              </a:defRPr>
            </a:pPr>
            <a:r>
              <a:t>Benchmark Eval</a:t>
            </a:r>
          </a:p>
          <a:p>
            <a:pPr>
              <a:spcBef>
                <a:spcPts val="600"/>
              </a:spcBef>
              <a:defRPr sz="1100">
                <a:solidFill>
                  <a:srgbClr val="546E7A"/>
                </a:solidFill>
              </a:defRPr>
            </a:pPr>
            <a:r>
              <a:t>28/28 fields correct on 3-case suite: internal Jane Doe + 2 Superinsight excerpts (live Groq metrics)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4434840"/>
            <a:ext cx="40690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0" y="4434840"/>
            <a:ext cx="54864" cy="1417320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54880" y="4572000"/>
            <a:ext cx="3749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3D62"/>
                </a:solidFill>
              </a:defRPr>
            </a:pPr>
            <a:r>
              <a:t>Audit Export</a:t>
            </a:r>
          </a:p>
          <a:p>
            <a:pPr>
              <a:spcBef>
                <a:spcPts val="600"/>
              </a:spcBef>
              <a:defRPr sz="1100">
                <a:solidFill>
                  <a:srgbClr val="546E7A"/>
                </a:solidFill>
              </a:defRPr>
            </a:pPr>
            <a:r>
              <a:t>One-click JSON download of full extraction, assessments, and summary for downstream systems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446520"/>
            <a:ext cx="8229600" cy="18288"/>
          </a:xfrm>
          <a:prstGeom prst="rect">
            <a:avLst/>
          </a:prstGeom>
          <a:solidFill>
            <a:srgbClr val="B2D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Challenges and 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743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2DFDB"/>
                </a:solidFill>
              </a:defRPr>
            </a:pPr>
            <a: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813816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293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Challenge</a:t>
                      </a:r>
                    </a:p>
                  </a:txBody>
                  <a:tcPr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Learning / Mitigation</a:t>
                      </a:r>
                    </a:p>
                  </a:txBody>
                  <a:tcPr>
                    <a:solidFill>
                      <a:srgbClr val="0A3D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8"/>
                          </a:solidFill>
                        </a:defRPr>
                      </a:pPr>
                      <a:r>
                        <a:t>OCR noise on scanned lab 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8"/>
                          </a:solidFill>
                        </a:defRPr>
                      </a:pPr>
                      <a:r>
                        <a:t>Documented limitation; plain-text physician note is the most reliable demo path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9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8"/>
                          </a:solidFill>
                        </a:defRPr>
                      </a:pPr>
                      <a:r>
                        <a:t>Groq token limits on long documents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8"/>
                          </a:solidFill>
                        </a:defRPr>
                      </a:pPr>
                      <a:r>
                        <a:t>Evaluation uses curated excerpts; full documents available for UI walkthrough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9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8"/>
                          </a:solidFill>
                        </a:defRPr>
                      </a:pPr>
                      <a:r>
                        <a:t>Intermittent LLM JSON validation errors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8"/>
                          </a:solidFill>
                        </a:defRPr>
                      </a:pPr>
                      <a:r>
                        <a:t>Retry logic with exponential backoff in evaluation script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29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8"/>
                          </a:solidFill>
                        </a:defRPr>
                      </a:pPr>
                      <a:r>
                        <a:t>Medical terminology variance across docs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8"/>
                          </a:solidFill>
                        </a:defRPr>
                      </a:pPr>
                      <a:r>
                        <a:t>terminology_map.json normalizes aliases to canonical clinical names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294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8"/>
                          </a:solidFill>
                        </a:defRPr>
                      </a:pPr>
                      <a:r>
                        <a:t>POC scope vs clinical 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38"/>
                          </a:solidFill>
                        </a:defRPr>
                      </a:pPr>
                      <a:r>
                        <a:t>Clear UI disclaimer — decision support only, human review required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5349240"/>
            <a:ext cx="8138160" cy="82296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553212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Key Takeaway:  Hybrid AI works best — LLM for flexible extraction, deterministic rules for clinical flags, human review for final decisions.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46520"/>
            <a:ext cx="8229600" cy="18288"/>
          </a:xfrm>
          <a:prstGeom prst="rect">
            <a:avLst/>
          </a:prstGeom>
          <a:solidFill>
            <a:srgbClr val="B2D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180049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0A4AE"/>
                </a:solidFill>
              </a:defRPr>
            </a:pPr>
            <a:r>
              <a:rPr dirty="0"/>
              <a:t>Clinical Document </a:t>
            </a:r>
            <a:r>
              <a:rPr dirty="0" err="1"/>
              <a:t>IntelligenceHub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Demo Summary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743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2DFDB"/>
                </a:solidFill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3886200" cy="2560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54864" cy="25603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280160"/>
            <a:ext cx="35661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3D62"/>
                </a:solidFill>
              </a:defRPr>
            </a:pPr>
            <a:r>
              <a:t>What We Delivered</a:t>
            </a:r>
          </a:p>
          <a:p>
            <a:pPr>
              <a:spcBef>
                <a:spcPts val="600"/>
              </a:spcBef>
              <a:defRPr sz="1100">
                <a:solidFill>
                  <a:srgbClr val="546E7A"/>
                </a:solidFill>
              </a:defRPr>
            </a:pPr>
            <a:r>
              <a:t>• Streamlit prototype — single &amp; multi-document modes</a:t>
            </a:r>
            <a:br/>
            <a:r>
              <a:t>• Synthetic Jane Doe diabetes demo case</a:t>
            </a:r>
            <a:br/>
            <a:r>
              <a:t>• Superinsight benchmark validation (Apache 2.0)</a:t>
            </a:r>
            <a:br/>
            <a:r>
              <a:t>• GitHub repo, README, and evaluation scripts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143000"/>
            <a:ext cx="4069080" cy="2560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0" y="1143000"/>
            <a:ext cx="54864" cy="2560320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1280160"/>
            <a:ext cx="37490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3D62"/>
                </a:solidFill>
              </a:defRPr>
            </a:pPr>
            <a:r>
              <a:t>Future Enhancements</a:t>
            </a:r>
          </a:p>
          <a:p>
            <a:pPr>
              <a:spcBef>
                <a:spcPts val="600"/>
              </a:spcBef>
              <a:defRPr sz="1100">
                <a:solidFill>
                  <a:srgbClr val="546E7A"/>
                </a:solidFill>
              </a:defRPr>
            </a:pPr>
            <a:r>
              <a:t>• FHIR / HL7 export for EHR integration</a:t>
            </a:r>
            <a:br/>
            <a:r>
              <a:t>• Clinician review queue for low-confidence fields</a:t>
            </a:r>
            <a:br/>
            <a:r>
              <a:t>• Production OCR (Azure Doc Intelligence)</a:t>
            </a:r>
            <a:br/>
            <a:r>
              <a:t>• Role-based access and audit logging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931920"/>
            <a:ext cx="8138160" cy="1371600"/>
          </a:xfrm>
          <a:prstGeom prst="round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4114800"/>
            <a:ext cx="7680960" cy="748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2DFDB"/>
                </a:solidFill>
              </a:defRPr>
            </a:pPr>
            <a:r>
              <a:rPr dirty="0"/>
              <a:t>Resources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rPr dirty="0"/>
              <a:t>  →  GitHub:  github.com/ayush2888/Clinical-Document-Intelligence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rPr dirty="0"/>
              <a:t>  →  Live Demo: </a:t>
            </a:r>
            <a:r>
              <a:rPr lang="en-IN" dirty="0"/>
              <a:t>https://clinical-document-intelligence-7uk4vvurtmqlm74msy8n9n.streamlit.app/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502920" y="5669280"/>
            <a:ext cx="8138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9688"/>
                </a:solidFill>
              </a:defRPr>
            </a:pPr>
            <a:r>
              <a:rPr dirty="0"/>
              <a:t>Thank you.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446520"/>
            <a:ext cx="8229600" cy="18288"/>
          </a:xfrm>
          <a:prstGeom prst="rect">
            <a:avLst/>
          </a:prstGeom>
          <a:solidFill>
            <a:srgbClr val="B2D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570</Words>
  <Application>Microsoft Office PowerPoint</Application>
  <PresentationFormat>On-screen Show (4:3)</PresentationFormat>
  <Paragraphs>82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Ayush Khandelwal</cp:lastModifiedBy>
  <cp:revision>2</cp:revision>
  <dcterms:created xsi:type="dcterms:W3CDTF">2013-01-27T09:14:16Z</dcterms:created>
  <dcterms:modified xsi:type="dcterms:W3CDTF">2026-08-28T18:12:48Z</dcterms:modified>
  <cp:category/>
</cp:coreProperties>
</file>